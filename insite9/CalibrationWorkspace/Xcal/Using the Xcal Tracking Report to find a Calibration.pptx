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9" r:id="rId3"/>
    <p:sldId id="261"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0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15C8AC-926A-42EB-9A70-629512748977}" type="datetimeFigureOut">
              <a:rPr lang="en-US" smtClean="0"/>
              <a:pPr/>
              <a:t>12/15/2011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CE34DE-1814-4B23-B907-9510D1797C4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15C8AC-926A-42EB-9A70-629512748977}" type="datetimeFigureOut">
              <a:rPr lang="en-US" smtClean="0"/>
              <a:pPr/>
              <a:t>12/15/2011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CE34DE-1814-4B23-B907-9510D1797C4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
        <p:nvSpPr>
          <p:cNvPr id="3" name="TextBox 2"/>
          <p:cNvSpPr txBox="1"/>
          <p:nvPr/>
        </p:nvSpPr>
        <p:spPr>
          <a:xfrm>
            <a:off x="0" y="0"/>
            <a:ext cx="9144000" cy="553998"/>
          </a:xfrm>
          <a:prstGeom prst="rect">
            <a:avLst/>
          </a:prstGeom>
          <a:noFill/>
        </p:spPr>
        <p:txBody>
          <a:bodyPr wrap="square" rtlCol="0">
            <a:spAutoFit/>
          </a:bodyPr>
          <a:lstStyle/>
          <a:p>
            <a:pPr algn="ctr"/>
            <a:r>
              <a:rPr lang="en-US" sz="3000" dirty="0" smtClean="0"/>
              <a:t>Using the </a:t>
            </a:r>
            <a:r>
              <a:rPr lang="en-US" sz="3000" dirty="0" err="1" smtClean="0"/>
              <a:t>Xcal</a:t>
            </a:r>
            <a:r>
              <a:rPr lang="en-US" sz="3000" dirty="0" smtClean="0"/>
              <a:t> Tracking Report to find a Calibration</a:t>
            </a:r>
            <a:endParaRPr lang="en-US" sz="3000" dirty="0">
              <a:solidFill>
                <a:srgbClr val="FF0000"/>
              </a:solidFill>
            </a:endParaRPr>
          </a:p>
        </p:txBody>
      </p:sp>
      <p:sp>
        <p:nvSpPr>
          <p:cNvPr id="4" name="TextBox 3"/>
          <p:cNvSpPr txBox="1"/>
          <p:nvPr/>
        </p:nvSpPr>
        <p:spPr>
          <a:xfrm>
            <a:off x="838200" y="838200"/>
            <a:ext cx="7086600" cy="646331"/>
          </a:xfrm>
          <a:prstGeom prst="rect">
            <a:avLst/>
          </a:prstGeom>
          <a:noFill/>
        </p:spPr>
        <p:txBody>
          <a:bodyPr wrap="square" rtlCol="0">
            <a:spAutoFit/>
          </a:bodyPr>
          <a:lstStyle/>
          <a:p>
            <a:pPr>
              <a:buFont typeface="Arial" charset="0"/>
              <a:buChar char="•"/>
            </a:pPr>
            <a:r>
              <a:rPr lang="en-US" dirty="0" smtClean="0"/>
              <a:t>This document can be found on the INCAL disc under:</a:t>
            </a:r>
          </a:p>
          <a:p>
            <a:r>
              <a:rPr lang="en-US" dirty="0" err="1" smtClean="0"/>
              <a:t>Xcal</a:t>
            </a:r>
            <a:r>
              <a:rPr lang="en-US" dirty="0" smtClean="0"/>
              <a:t>/</a:t>
            </a:r>
            <a:r>
              <a:rPr lang="en-US" dirty="0" err="1" smtClean="0"/>
              <a:t>Xcal</a:t>
            </a:r>
            <a:r>
              <a:rPr lang="en-US" dirty="0" smtClean="0"/>
              <a:t> Tracking Report for </a:t>
            </a:r>
            <a:r>
              <a:rPr lang="en-US" dirty="0" err="1" smtClean="0"/>
              <a:t>Incal</a:t>
            </a:r>
            <a:r>
              <a:rPr lang="en-US" dirty="0" smtClean="0"/>
              <a:t> for </a:t>
            </a:r>
            <a:r>
              <a:rPr lang="en-US" i="1" dirty="0" smtClean="0"/>
              <a:t>(Month and Year of INCAL disc)</a:t>
            </a:r>
            <a:endParaRPr lang="en-US" i="1" dirty="0"/>
          </a:p>
        </p:txBody>
      </p:sp>
      <p:pic>
        <p:nvPicPr>
          <p:cNvPr id="2" name="Picture 2"/>
          <p:cNvPicPr>
            <a:picLocks noChangeAspect="1" noChangeArrowheads="1"/>
          </p:cNvPicPr>
          <p:nvPr/>
        </p:nvPicPr>
        <p:blipFill>
          <a:blip r:embed="rId3" cstate="print"/>
          <a:srcRect l="4255" t="8906" r="17021" b="16879"/>
          <a:stretch>
            <a:fillRect/>
          </a:stretch>
        </p:blipFill>
        <p:spPr bwMode="auto">
          <a:xfrm>
            <a:off x="5562600" y="1828800"/>
            <a:ext cx="2819400" cy="3810000"/>
          </a:xfrm>
          <a:prstGeom prst="rect">
            <a:avLst/>
          </a:prstGeom>
          <a:noFill/>
          <a:ln w="9525">
            <a:noFill/>
            <a:miter lim="800000"/>
            <a:headEnd/>
            <a:tailEnd/>
          </a:ln>
        </p:spPr>
      </p:pic>
      <p:sp>
        <p:nvSpPr>
          <p:cNvPr id="6" name="TextBox 5"/>
          <p:cNvSpPr txBox="1"/>
          <p:nvPr/>
        </p:nvSpPr>
        <p:spPr>
          <a:xfrm>
            <a:off x="990600" y="1676400"/>
            <a:ext cx="4114800" cy="4801314"/>
          </a:xfrm>
          <a:prstGeom prst="rect">
            <a:avLst/>
          </a:prstGeom>
          <a:noFill/>
        </p:spPr>
        <p:txBody>
          <a:bodyPr wrap="square" rtlCol="0">
            <a:spAutoFit/>
          </a:bodyPr>
          <a:lstStyle/>
          <a:p>
            <a:pPr marL="342900" indent="-342900">
              <a:buAutoNum type="arabicPeriod"/>
            </a:pPr>
            <a:r>
              <a:rPr lang="en-US" dirty="0" smtClean="0"/>
              <a:t>Use the dropdown filter selection under the Prototype Cal column to sort for the </a:t>
            </a:r>
            <a:r>
              <a:rPr lang="en-US" dirty="0" err="1" smtClean="0"/>
              <a:t>Xcal</a:t>
            </a:r>
            <a:r>
              <a:rPr lang="en-US" dirty="0" smtClean="0"/>
              <a:t> ECM code that you are looking for.  To figure out the </a:t>
            </a:r>
            <a:r>
              <a:rPr lang="en-US" dirty="0" err="1" smtClean="0"/>
              <a:t>Xcal</a:t>
            </a:r>
            <a:r>
              <a:rPr lang="en-US" dirty="0" smtClean="0"/>
              <a:t> ECM code, please refer to the </a:t>
            </a:r>
            <a:r>
              <a:rPr lang="en-US" dirty="0" err="1" smtClean="0"/>
              <a:t>Xcal</a:t>
            </a:r>
            <a:r>
              <a:rPr lang="en-US" dirty="0" smtClean="0"/>
              <a:t> Tracking Report Spreadsheet that describes the naming conventions.</a:t>
            </a:r>
          </a:p>
          <a:p>
            <a:pPr marL="342900" indent="-342900">
              <a:buAutoNum type="arabicPeriod"/>
            </a:pPr>
            <a:r>
              <a:rPr lang="en-US" dirty="0" smtClean="0"/>
              <a:t>The extension .XX is not critical for finding the development ECM code.  Instead, make sure to match the characters to the left of the decimal point.  These correspond to OEM, FR number, and phase.</a:t>
            </a:r>
          </a:p>
          <a:p>
            <a:pPr marL="342900" indent="-342900">
              <a:buAutoNum type="arabicPeriod"/>
            </a:pPr>
            <a:r>
              <a:rPr lang="en-US" dirty="0" smtClean="0"/>
              <a:t>You may also filter by OEM Name, OEM Model, etc. to find your ECM code in the event you do not know your prototype cal number.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
        <p:nvSpPr>
          <p:cNvPr id="4" name="Rectangle 3"/>
          <p:cNvSpPr/>
          <p:nvPr/>
        </p:nvSpPr>
        <p:spPr>
          <a:xfrm>
            <a:off x="0" y="0"/>
            <a:ext cx="9144000" cy="553998"/>
          </a:xfrm>
          <a:prstGeom prst="rect">
            <a:avLst/>
          </a:prstGeom>
        </p:spPr>
        <p:txBody>
          <a:bodyPr wrap="square">
            <a:spAutoFit/>
          </a:bodyPr>
          <a:lstStyle/>
          <a:p>
            <a:pPr algn="ctr"/>
            <a:r>
              <a:rPr lang="en-US" sz="3000" dirty="0" smtClean="0"/>
              <a:t>Using the </a:t>
            </a:r>
            <a:r>
              <a:rPr lang="en-US" sz="3000" dirty="0" err="1" smtClean="0"/>
              <a:t>Xcal</a:t>
            </a:r>
            <a:r>
              <a:rPr lang="en-US" sz="3000" dirty="0" smtClean="0"/>
              <a:t> Tracking Report to find a Calibration</a:t>
            </a:r>
            <a:endParaRPr lang="en-US" sz="3000" dirty="0">
              <a:solidFill>
                <a:srgbClr val="FF0000"/>
              </a:solidFill>
            </a:endParaRPr>
          </a:p>
        </p:txBody>
      </p:sp>
      <p:sp>
        <p:nvSpPr>
          <p:cNvPr id="5" name="TextBox 4"/>
          <p:cNvSpPr txBox="1"/>
          <p:nvPr/>
        </p:nvSpPr>
        <p:spPr>
          <a:xfrm>
            <a:off x="838200" y="685800"/>
            <a:ext cx="7924800" cy="5909310"/>
          </a:xfrm>
          <a:prstGeom prst="rect">
            <a:avLst/>
          </a:prstGeom>
          <a:noFill/>
        </p:spPr>
        <p:txBody>
          <a:bodyPr wrap="square" rtlCol="0">
            <a:spAutoFit/>
          </a:bodyPr>
          <a:lstStyle/>
          <a:p>
            <a:r>
              <a:rPr lang="en-US" dirty="0" smtClean="0"/>
              <a:t>3. After you select the proper prototype calibration (or find the proper cal using OEM Name and OEM Model), the information on the calibration will be displayed as shown below.  The amount of information available will vary from </a:t>
            </a:r>
            <a:r>
              <a:rPr lang="en-US" dirty="0" err="1" smtClean="0"/>
              <a:t>Xcal</a:t>
            </a:r>
            <a:r>
              <a:rPr lang="en-US" dirty="0" smtClean="0"/>
              <a:t> to </a:t>
            </a:r>
            <a:r>
              <a:rPr lang="en-US" dirty="0" err="1" smtClean="0"/>
              <a:t>Xcal</a:t>
            </a:r>
            <a:r>
              <a:rPr lang="en-US" dirty="0" smtClean="0"/>
              <a:t>.  Check to confirm that the OEM name, OEM model, and OEM application are what you expect.</a:t>
            </a:r>
            <a:br>
              <a:rPr lang="en-US" dirty="0" smtClean="0"/>
            </a:br>
            <a:r>
              <a:rPr lang="en-US" dirty="0" smtClean="0"/>
              <a:t/>
            </a:r>
            <a:br>
              <a:rPr lang="en-US" dirty="0" smtClean="0"/>
            </a:br>
            <a:r>
              <a:rPr lang="en-US" dirty="0" smtClean="0"/>
              <a:t>4.  If the rated power is not what you expect, this may be due to the fact that the data plate may correspond to a generic calibration (used during calibration development) and the information has not been updated to the correct information.</a:t>
            </a:r>
            <a:br>
              <a:rPr lang="en-US" dirty="0" smtClean="0"/>
            </a:br>
            <a:r>
              <a:rPr lang="en-US" dirty="0" smtClean="0"/>
              <a:t/>
            </a:r>
            <a:br>
              <a:rPr lang="en-US" dirty="0" smtClean="0"/>
            </a:br>
            <a:r>
              <a:rPr lang="en-US" dirty="0" smtClean="0"/>
              <a:t>5.  All of the information that we have on the calibration will be listed.  If an ECM code is listed, there is a good chance you can find the calibration on the INCAL disc.  To get the calibration, go to the </a:t>
            </a:r>
            <a:r>
              <a:rPr lang="en-US" dirty="0" err="1" smtClean="0"/>
              <a:t>intelect</a:t>
            </a:r>
            <a:r>
              <a:rPr lang="en-US" dirty="0" smtClean="0"/>
              <a:t> folder on the INCAL disc, choose </a:t>
            </a:r>
            <a:r>
              <a:rPr lang="en-US" dirty="0" err="1" smtClean="0"/>
              <a:t>esdn</a:t>
            </a:r>
            <a:r>
              <a:rPr lang="en-US" dirty="0" smtClean="0"/>
              <a:t>, choose data, choose your platform, choose cal, and then look for the calibration that corresponds with the part of the ECM code that is to the left of the decimal point.</a:t>
            </a:r>
            <a:br>
              <a:rPr lang="en-US" dirty="0" smtClean="0"/>
            </a:br>
            <a:r>
              <a:rPr lang="en-US" dirty="0" smtClean="0"/>
              <a:t/>
            </a:r>
            <a:br>
              <a:rPr lang="en-US" dirty="0" smtClean="0"/>
            </a:br>
            <a:endParaRPr lang="en-US" dirty="0" smtClean="0"/>
          </a:p>
          <a:p>
            <a:endParaRPr lang="en-US" dirty="0" smtClean="0"/>
          </a:p>
          <a:p>
            <a:pPr marL="342900" indent="-342900"/>
            <a:endParaRPr lang="en-US" dirty="0" smtClean="0"/>
          </a:p>
        </p:txBody>
      </p:sp>
      <p:pic>
        <p:nvPicPr>
          <p:cNvPr id="6" name="Picture 5"/>
          <p:cNvPicPr>
            <a:picLocks noChangeAspect="1" noChangeArrowheads="1"/>
          </p:cNvPicPr>
          <p:nvPr/>
        </p:nvPicPr>
        <p:blipFill>
          <a:blip r:embed="rId3" cstate="print"/>
          <a:srcRect/>
          <a:stretch>
            <a:fillRect/>
          </a:stretch>
        </p:blipFill>
        <p:spPr bwMode="auto">
          <a:xfrm>
            <a:off x="685800" y="5410200"/>
            <a:ext cx="7472514" cy="11430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
        <p:nvSpPr>
          <p:cNvPr id="4" name="Rectangle 3"/>
          <p:cNvSpPr/>
          <p:nvPr/>
        </p:nvSpPr>
        <p:spPr>
          <a:xfrm>
            <a:off x="0" y="0"/>
            <a:ext cx="9144000" cy="553998"/>
          </a:xfrm>
          <a:prstGeom prst="rect">
            <a:avLst/>
          </a:prstGeom>
        </p:spPr>
        <p:txBody>
          <a:bodyPr wrap="square">
            <a:spAutoFit/>
          </a:bodyPr>
          <a:lstStyle/>
          <a:p>
            <a:pPr algn="ctr"/>
            <a:r>
              <a:rPr lang="en-US" sz="3000" dirty="0" smtClean="0"/>
              <a:t>Using the </a:t>
            </a:r>
            <a:r>
              <a:rPr lang="en-US" sz="3000" dirty="0" err="1" smtClean="0"/>
              <a:t>Xcal</a:t>
            </a:r>
            <a:r>
              <a:rPr lang="en-US" sz="3000" dirty="0" smtClean="0"/>
              <a:t> Tracking Report to find a Calibration</a:t>
            </a:r>
            <a:endParaRPr lang="en-US" sz="3000" dirty="0">
              <a:solidFill>
                <a:srgbClr val="FF0000"/>
              </a:solidFill>
            </a:endParaRPr>
          </a:p>
        </p:txBody>
      </p:sp>
      <p:sp>
        <p:nvSpPr>
          <p:cNvPr id="5" name="TextBox 4"/>
          <p:cNvSpPr txBox="1"/>
          <p:nvPr/>
        </p:nvSpPr>
        <p:spPr>
          <a:xfrm>
            <a:off x="838200" y="685800"/>
            <a:ext cx="7924800" cy="5632311"/>
          </a:xfrm>
          <a:prstGeom prst="rect">
            <a:avLst/>
          </a:prstGeom>
          <a:noFill/>
        </p:spPr>
        <p:txBody>
          <a:bodyPr wrap="square" rtlCol="0">
            <a:spAutoFit/>
          </a:bodyPr>
          <a:lstStyle/>
          <a:p>
            <a:r>
              <a:rPr lang="en-US" dirty="0" smtClean="0"/>
              <a:t>IMPORTANT DIFFERENCES:</a:t>
            </a:r>
          </a:p>
          <a:p>
            <a:endParaRPr lang="en-US" dirty="0" smtClean="0"/>
          </a:p>
          <a:p>
            <a:r>
              <a:rPr lang="en-US" dirty="0" smtClean="0"/>
              <a:t>1. Sometimes you will see a calibration such as xAC8390A.cal.  The identification is actually xAC839.0A.  In these cases the developer did not strip off the extra information before putting the information in the database.  THE IMPORTANT PART OF ALL CALIBRATIONS ARE THE FIRST 6 OR 7 POSITIONS.  THESE CHARACTERS ARE WHAT YOU ARE TRYING TO MATCH UP WITH.</a:t>
            </a:r>
          </a:p>
          <a:p>
            <a:endParaRPr lang="en-US" dirty="0" smtClean="0"/>
          </a:p>
          <a:p>
            <a:r>
              <a:rPr lang="en-US" dirty="0" smtClean="0"/>
              <a:t>2. A calibration that is xAC839.0B is </a:t>
            </a:r>
            <a:r>
              <a:rPr lang="en-US" dirty="0" smtClean="0"/>
              <a:t>the same as xAC839.0F when you are replacing it with the released ECM code calibration.  The .XX indicator is just a version reference used in the development of the released calibration.</a:t>
            </a:r>
          </a:p>
          <a:p>
            <a:endParaRPr lang="en-US" dirty="0" smtClean="0"/>
          </a:p>
          <a:p>
            <a:r>
              <a:rPr lang="en-US" dirty="0" smtClean="0"/>
              <a:t>3. A calibration that looks like Z90726.99 has been made by </a:t>
            </a:r>
            <a:r>
              <a:rPr lang="en-US" dirty="0" err="1" smtClean="0"/>
              <a:t>PowerMatch</a:t>
            </a:r>
            <a:r>
              <a:rPr lang="en-US" dirty="0" smtClean="0"/>
              <a:t>. The only way to figure out  what calibration this corresponds to is to trace it back to the distributor or, If it has been released, you will need to match a released calibration to the exact OEM name and model.  </a:t>
            </a:r>
            <a:r>
              <a:rPr lang="en-US" dirty="0" smtClean="0"/>
              <a:t/>
            </a:r>
            <a:br>
              <a:rPr lang="en-US" dirty="0" smtClean="0"/>
            </a:br>
            <a:r>
              <a:rPr lang="en-US" dirty="0" smtClean="0"/>
              <a:t/>
            </a:r>
            <a:br>
              <a:rPr lang="en-US" dirty="0" smtClean="0"/>
            </a:br>
            <a:endParaRPr lang="en-US" dirty="0" smtClean="0"/>
          </a:p>
          <a:p>
            <a:endParaRPr lang="en-US" dirty="0" smtClean="0"/>
          </a:p>
          <a:p>
            <a:pPr marL="342900" indent="-342900"/>
            <a:endParaRPr lang="en-US"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399</Words>
  <Application>Microsoft Office PowerPoint</Application>
  <PresentationFormat>On-screen Show (4:3)</PresentationFormat>
  <Paragraphs>16</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Slide 1</vt:lpstr>
      <vt:lpstr>Slide 2</vt:lpstr>
      <vt:lpstr>Slide 3</vt:lpstr>
    </vt:vector>
  </TitlesOfParts>
  <Company>Cummins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kc280</dc:creator>
  <cp:lastModifiedBy>kc280</cp:lastModifiedBy>
  <cp:revision>19</cp:revision>
  <dcterms:created xsi:type="dcterms:W3CDTF">2011-09-21T18:38:01Z</dcterms:created>
  <dcterms:modified xsi:type="dcterms:W3CDTF">2011-12-15T17:53:24Z</dcterms:modified>
</cp:coreProperties>
</file>